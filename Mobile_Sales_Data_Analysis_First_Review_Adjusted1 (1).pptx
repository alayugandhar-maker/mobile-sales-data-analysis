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 showGuides="1"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0058400" cy="932688"/>
          </a:xfrm>
          <a:prstGeom prst="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295400" y="2404110"/>
            <a:ext cx="6964680" cy="213804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/>
              <a:t>             </a:t>
            </a:r>
            <a:r>
              <a:rPr sz="2400" dirty="0"/>
              <a:t>Data Analysis Essentials  Project</a:t>
            </a:r>
            <a:endParaRPr lang="en-IN" sz="2400" dirty="0"/>
          </a:p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/>
              <a:t>      </a:t>
            </a:r>
            <a:endParaRPr lang="en-US" sz="2400" dirty="0"/>
          </a:p>
          <a:p>
            <a:pPr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rPr lang="en-US" sz="2400" dirty="0"/>
              <a:t>                          FIRST REVIEW</a:t>
            </a:r>
            <a:endParaRPr sz="2400" dirty="0"/>
          </a:p>
          <a:p>
            <a:pPr>
              <a:spcAft>
                <a:spcPts val="400"/>
              </a:spcAft>
              <a:defRPr sz="1700" b="1">
                <a:solidFill>
                  <a:srgbClr val="2A2A2A"/>
                </a:solidFill>
              </a:defRPr>
            </a:pPr>
            <a:endParaRPr sz="2800" dirty="0">
              <a:solidFill>
                <a:srgbClr val="FF0000"/>
              </a:solidFill>
            </a:endParaRPr>
          </a:p>
          <a:p>
            <a:pPr>
              <a:spcAft>
                <a:spcPts val="400"/>
              </a:spcAft>
              <a:defRPr sz="1700" b="1">
                <a:solidFill>
                  <a:srgbClr val="2A2A2A"/>
                </a:solidFill>
              </a:defRPr>
            </a:pPr>
            <a:r>
              <a:rPr lang="en-US" sz="2800" dirty="0">
                <a:solidFill>
                  <a:srgbClr val="FF0000"/>
                </a:solidFill>
              </a:rPr>
              <a:t>      </a:t>
            </a:r>
            <a:r>
              <a:rPr sz="2800" dirty="0">
                <a:solidFill>
                  <a:srgbClr val="FF0000"/>
                </a:solidFill>
              </a:rPr>
              <a:t>Mobile Sales Data Analysis System</a:t>
            </a:r>
            <a:endParaRPr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5029200"/>
            <a:ext cx="6394450" cy="64071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no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06974"/>
                </a:solidFill>
              </a:defRPr>
            </a:pPr>
            <a:r>
              <a:rPr lang="en-US" sz="1800" dirty="0"/>
              <a:t> </a:t>
            </a:r>
            <a:r>
              <a:rPr sz="1800" dirty="0"/>
              <a:t>Department of Artificial Intelligence &amp; Machine Learning</a:t>
            </a:r>
            <a:endParaRPr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1</a:t>
            </a:r>
          </a:p>
        </p:txBody>
      </p:sp>
      <p:pic>
        <p:nvPicPr>
          <p:cNvPr id="3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14899" y="1067026"/>
            <a:ext cx="4610910" cy="628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57529" y="1261871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Abstract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824076" y="1764424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Introduction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Existing System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868680" y="2798064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Proposed System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857529" y="3310126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Dataset Description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868680" y="3822191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Requirements</a:t>
            </a:r>
            <a:endParaRPr sz="2000" dirty="0"/>
          </a:p>
        </p:txBody>
      </p:sp>
      <p:sp>
        <p:nvSpPr>
          <p:cNvPr id="9" name="Rounded Rectangle 8"/>
          <p:cNvSpPr/>
          <p:nvPr/>
        </p:nvSpPr>
        <p:spPr>
          <a:xfrm>
            <a:off x="824076" y="4343766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Methodology</a:t>
            </a: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824076" y="4836809"/>
            <a:ext cx="379476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Expected Outputs</a:t>
            </a: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868680" y="5358384"/>
            <a:ext cx="379476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 dirty="0"/>
              <a:t>Conclusion</a:t>
            </a:r>
            <a:endParaRPr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0" y="1325880"/>
            <a:ext cx="3794760" cy="438912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PROJECT FLOW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Understand the dataset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Prepare the data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Analyze sales patterns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Visualize findings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Interpret insights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77737" y="557561"/>
            <a:ext cx="4161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PROJECT OUTLINE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7540" y="1524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800" dirty="0"/>
              <a:t>ABSTRACT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752600"/>
            <a:ext cx="9448800" cy="322549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A Python-based data analysis project focused on understanding mobile phone sales data.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selected dataset contains 24,983 records and 14 attributes.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data covers product, brand, price, quantity sold, customer, region and mobile specification information.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project focuses on data exploration, cleaning, preprocessing, exploratory data analysis and visualization.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objective is to identify meaningful sales, product and regional patterns from the available records.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228600" y="6135624"/>
            <a:ext cx="9906000" cy="43891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400" dirty="0"/>
              <a:t>RAW DATA  →  ANALYSIS  →  INSIGHTS</a:t>
            </a: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77540" y="234008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/>
              <a:t>INTRODUCTION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304800" y="1236299"/>
            <a:ext cx="2763644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PRODUCT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Brand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Processor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RAM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ROM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3429000" y="1234440"/>
            <a:ext cx="2958084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SALES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Quantity Sold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Inward Date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Dispatch Date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 × Quantity (derived sales value)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781800" y="1348740"/>
            <a:ext cx="2971800" cy="4480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CUSTOMER &amp; REGION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Name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Location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Regional comparisons</a:t>
            </a: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-228600" y="6291072"/>
            <a:ext cx="10058400" cy="455509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Objective: understand sales performance and patterns using data analysis</a:t>
            </a:r>
            <a:r>
              <a:rPr dirty="0"/>
              <a:t>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95600" y="32004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400" dirty="0"/>
              <a:t>EXISTING SYSTEM</a:t>
            </a:r>
            <a:endParaRPr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298448"/>
            <a:ext cx="8610600" cy="322549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dirty="0"/>
              <a:t>• </a:t>
            </a:r>
            <a:r>
              <a:rPr sz="2000" dirty="0"/>
              <a:t>Mobile sales records are stored in structured tables such as CSV or spreadsheet files.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raw data contains useful information, but insights are not immediately visible.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Users may rely on filtering, grouping and manual comparison to understand sales performance.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Comparing brands, products, regions and specifications becomes difficult as the dataset grows.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Visual trends require additional analysis and chart generation.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381000" y="5518962"/>
            <a:ext cx="224028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Raw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5518962"/>
            <a:ext cx="2240280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Manual Filtering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737859" y="5502235"/>
            <a:ext cx="1722121" cy="438912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Manual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5502235"/>
            <a:ext cx="1844040" cy="438912"/>
          </a:xfrm>
          <a:prstGeom prst="roundRect">
            <a:avLst/>
          </a:prstGeom>
          <a:solidFill>
            <a:srgbClr val="BE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Limited Insights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95600" y="215887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/>
              <a:t>LIMITATIONS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305542" y="1320304"/>
            <a:ext cx="300228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</a:defRPr>
            </a:pPr>
            <a:r>
              <a:rPr sz="2000" dirty="0"/>
              <a:t>01</a:t>
            </a:r>
            <a:endParaRPr sz="2000" dirty="0"/>
          </a:p>
          <a:p>
            <a:pPr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Large Data Volume</a:t>
            </a:r>
            <a:endParaRPr sz="2000" dirty="0"/>
          </a:p>
          <a:p>
            <a:pPr>
              <a:spcAft>
                <a:spcPts val="400"/>
              </a:spcAft>
              <a:defRPr sz="1100">
                <a:solidFill>
                  <a:srgbClr val="606974"/>
                </a:solidFill>
              </a:defRPr>
            </a:pPr>
            <a:r>
              <a:rPr sz="2000" dirty="0"/>
              <a:t>Manual work increases with record count</a:t>
            </a:r>
            <a:r>
              <a:rPr dirty="0"/>
              <a:t>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656857" y="1351527"/>
            <a:ext cx="324612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</a:defRPr>
            </a:pPr>
            <a:r>
              <a:rPr sz="2000" dirty="0"/>
              <a:t>02</a:t>
            </a:r>
            <a:endParaRPr sz="2000" dirty="0"/>
          </a:p>
          <a:p>
            <a:pPr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Difficult Comparisons</a:t>
            </a:r>
            <a:endParaRPr sz="2000" dirty="0"/>
          </a:p>
          <a:p>
            <a:pPr>
              <a:spcAft>
                <a:spcPts val="400"/>
              </a:spcAft>
              <a:defRPr sz="1100">
                <a:solidFill>
                  <a:srgbClr val="606974"/>
                </a:solidFill>
              </a:defRPr>
            </a:pPr>
            <a:r>
              <a:rPr sz="2000" dirty="0"/>
              <a:t>Multiple dimensions are harder to compare quickly.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7267253" y="998590"/>
            <a:ext cx="2791147" cy="204941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</a:defRPr>
            </a:pPr>
            <a:r>
              <a:rPr sz="2000" dirty="0"/>
              <a:t>03</a:t>
            </a:r>
            <a:endParaRPr sz="2000" dirty="0"/>
          </a:p>
          <a:p>
            <a:pPr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Hidden Sales Patterns</a:t>
            </a:r>
            <a:endParaRPr sz="2000" dirty="0"/>
          </a:p>
          <a:p>
            <a:pPr>
              <a:spcAft>
                <a:spcPts val="400"/>
              </a:spcAft>
              <a:defRPr sz="1100">
                <a:solidFill>
                  <a:srgbClr val="606974"/>
                </a:solidFill>
              </a:defRPr>
            </a:pPr>
            <a:r>
              <a:rPr sz="2000" dirty="0"/>
              <a:t>Trends are not obvious from raw tables.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324612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</a:defRPr>
            </a:pPr>
            <a:r>
              <a:rPr sz="2000" dirty="0"/>
              <a:t>04</a:t>
            </a:r>
            <a:endParaRPr sz="2000" dirty="0"/>
          </a:p>
          <a:p>
            <a:pPr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Limited Visualization</a:t>
            </a:r>
            <a:endParaRPr sz="2000" dirty="0"/>
          </a:p>
          <a:p>
            <a:pPr>
              <a:spcAft>
                <a:spcPts val="400"/>
              </a:spcAft>
              <a:defRPr sz="1100">
                <a:solidFill>
                  <a:srgbClr val="606974"/>
                </a:solidFill>
              </a:defRPr>
            </a:pPr>
            <a:r>
              <a:rPr sz="2000" dirty="0"/>
              <a:t>Charts need to be created separately</a:t>
            </a:r>
            <a:r>
              <a:rPr dirty="0"/>
              <a:t>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480559" y="3383280"/>
            <a:ext cx="3246120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E67E22"/>
                </a:solidFill>
              </a:defRPr>
            </a:pPr>
            <a:r>
              <a:rPr sz="2000" dirty="0"/>
              <a:t>05</a:t>
            </a:r>
            <a:endParaRPr sz="2000" dirty="0"/>
          </a:p>
          <a:p>
            <a:pPr>
              <a:spcAft>
                <a:spcPts val="400"/>
              </a:spcAft>
              <a:defRPr sz="1500" b="1">
                <a:solidFill>
                  <a:srgbClr val="1F3759"/>
                </a:solidFill>
              </a:defRPr>
            </a:pPr>
            <a:r>
              <a:rPr sz="2000" dirty="0"/>
              <a:t>Specification Analysis</a:t>
            </a:r>
            <a:endParaRPr sz="2000" dirty="0"/>
          </a:p>
          <a:p>
            <a:pPr>
              <a:spcAft>
                <a:spcPts val="400"/>
              </a:spcAft>
              <a:defRPr sz="1100">
                <a:solidFill>
                  <a:srgbClr val="606974"/>
                </a:solidFill>
              </a:defRPr>
            </a:pPr>
            <a:r>
              <a:rPr sz="2000" dirty="0"/>
              <a:t>RAM, ROM and processor require grouped analysis.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25574" y="437955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/>
              <a:t>PROPOSED SYSTEM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202748" y="1944140"/>
            <a:ext cx="1572768" cy="8686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CSV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5778" y="2221992"/>
            <a:ext cx="329184" cy="274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06974"/>
                </a:solidFill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009450" y="1924812"/>
            <a:ext cx="1572768" cy="868680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Load &amp; 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1057" y="2221992"/>
            <a:ext cx="329184" cy="274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06974"/>
                </a:solidFill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119521" y="1965960"/>
            <a:ext cx="1572768" cy="868680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Clean &amp; 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1569" y="2212848"/>
            <a:ext cx="478647" cy="409343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06974"/>
                </a:solidFill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194298" y="1924812"/>
            <a:ext cx="1572768" cy="868680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7066" y="2235931"/>
            <a:ext cx="329184" cy="274320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06974"/>
                </a:solidFill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086957" y="1965960"/>
            <a:ext cx="1572768" cy="868680"/>
          </a:xfrm>
          <a:prstGeom prst="round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Visualize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 flipH="1">
            <a:off x="-115768" y="3272157"/>
            <a:ext cx="1104900" cy="409343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606974"/>
                </a:solidFill>
              </a:defRPr>
            </a:pPr>
            <a:r>
              <a:rPr dirty="0"/>
              <a:t>→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281085" y="3112139"/>
            <a:ext cx="1572768" cy="8686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Interpret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534" y="4393339"/>
            <a:ext cx="3076343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KEY BENEFITS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Faster analysis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Clear comparisons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Visual understanding</a:t>
            </a:r>
            <a:endParaRPr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4690723" y="4338828"/>
            <a:ext cx="3076343" cy="15087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PROJECT FOCUS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Products &amp; brands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Regions &amp; customers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 &amp; specifications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08962" y="138945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DATASET DESCRIPTION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273205" y="1228678"/>
            <a:ext cx="288036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t>24,983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E67E22"/>
                </a:solidFill>
              </a:defRPr>
            </a:pPr>
            <a:r>
              <a:t>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2" y="1167347"/>
            <a:ext cx="288036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t>14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E67E22"/>
                </a:solidFill>
              </a:defRPr>
            </a:pPr>
            <a:r>
              <a:t>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62800" y="1167347"/>
            <a:ext cx="2286000" cy="10515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1F3759"/>
                </a:solidFill>
              </a:defRPr>
            </a:pPr>
            <a:r>
              <a:t>20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E67E22"/>
                </a:solidFill>
              </a:defRPr>
            </a:pPr>
            <a:r>
              <a:t>BRANDS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628" y="2741712"/>
            <a:ext cx="3542371" cy="380201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PRODUCT &amp; SALES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Brand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 Code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 Specification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Quantity Sold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Inward Date</a:t>
            </a:r>
            <a:endParaRPr sz="2000" dirty="0"/>
          </a:p>
          <a:p>
            <a:pPr>
              <a:spcAft>
                <a:spcPts val="400"/>
              </a:spcAft>
              <a:defRPr sz="12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Dispatch Date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4038600" y="2741340"/>
            <a:ext cx="2773682" cy="3732611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CUSTOMER &amp; REGION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Name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 Location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7040883" y="2840698"/>
            <a:ext cx="2924590" cy="3633253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TECHNICAL SPECS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Processor Specification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RAM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ROM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19400" y="38100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4800" y="1386840"/>
            <a:ext cx="3870960" cy="534924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HARDWARE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Processor: Intel i3 or above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RAM: Minimum 4 GB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Storage: 20 GB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Keyboard &amp; Mouse</a:t>
            </a:r>
            <a:endParaRPr sz="2000" dirty="0"/>
          </a:p>
          <a:p>
            <a:pPr>
              <a:spcAft>
                <a:spcPts val="4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Monitor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5486400" y="1447800"/>
            <a:ext cx="3794760" cy="522732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SOFTWARE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Python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Google </a:t>
            </a:r>
            <a:r>
              <a:rPr sz="2000" dirty="0" err="1"/>
              <a:t>Colab</a:t>
            </a:r>
            <a:r>
              <a:rPr sz="2000" dirty="0"/>
              <a:t> / Jupyter Notebook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Pandas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NumPy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Matplotlib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Seaborn</a:t>
            </a:r>
            <a:endParaRPr sz="2000" dirty="0"/>
          </a:p>
          <a:p>
            <a:pPr>
              <a:spcAft>
                <a:spcPts val="4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GitHub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96007" y="404939"/>
            <a:ext cx="693420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800" dirty="0"/>
              <a:t>METHODOLOGY — DATA PREPARATION</a:t>
            </a:r>
            <a:endParaRPr sz="2800" dirty="0"/>
          </a:p>
        </p:txBody>
      </p:sp>
      <p:sp>
        <p:nvSpPr>
          <p:cNvPr id="3" name="Rounded Rectangle 2"/>
          <p:cNvSpPr/>
          <p:nvPr/>
        </p:nvSpPr>
        <p:spPr>
          <a:xfrm>
            <a:off x="37171" y="1234440"/>
            <a:ext cx="3391829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01  DATA LOADING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Import libraries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Read the CSV dataset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Inspect initial records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3711683" y="1243733"/>
            <a:ext cx="3237385" cy="402336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02  EXPLORATION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Check shape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Inspect columns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Check data types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Check missing values</a:t>
            </a:r>
            <a:endParaRPr sz="2000" dirty="0"/>
          </a:p>
          <a:p>
            <a:pPr>
              <a:spcAft>
                <a:spcPts val="3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Review statistics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7202015" y="1128541"/>
            <a:ext cx="2856385" cy="413855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03  CLEANING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Check duplicates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Review missing cells (0 in current file)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Validate numerical fields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Convert date fields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190500" y="6135624"/>
            <a:ext cx="9677400" cy="43891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rPr sz="2400" dirty="0"/>
              <a:t>LOAD  →  EXPLORE  →  CLEAN</a:t>
            </a:r>
            <a:endParaRPr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64008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83664" y="390331"/>
            <a:ext cx="6291072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rPr sz="2000" dirty="0"/>
              <a:t>METHODOLOGY — EDA &amp; VISUALIZATION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-76200" y="1345990"/>
            <a:ext cx="3200400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PREPROCESSING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Prepare categorical fields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Process date information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Validate numerical data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Create derived measur</a:t>
            </a:r>
            <a:r>
              <a:rPr dirty="0"/>
              <a:t>es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254205" y="1362716"/>
            <a:ext cx="3436620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EXPLORATORY ANALYSIS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Brand-wise sales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Product-wise sales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Region-wise sales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 &amp; quantity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RAM / ROM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Processor</a:t>
            </a:r>
            <a:endParaRPr sz="2000" dirty="0"/>
          </a:p>
          <a:p>
            <a:pPr>
              <a:spcAft>
                <a:spcPts val="3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Time-based trends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858000" y="1355282"/>
            <a:ext cx="3020308" cy="45262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VISUALIZATION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Bar charts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Line charts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Pie charts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Histograms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Box plots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Comparison charts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245364" y="6544465"/>
            <a:ext cx="9567672" cy="43891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73152" rtlCol="0" anchor="t"/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rPr sz="2400" dirty="0"/>
              <a:t>PREPARE  →  ANALYZE  →  VISUALIZE  →  INTERPRET</a:t>
            </a:r>
            <a:endParaRPr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64008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004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EXPECTED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5764" y="1266034"/>
            <a:ext cx="2895600" cy="2848766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PRODUCT INSIGHTS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Top-performing brands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Best-selling products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Specification patterns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3782122" y="1266034"/>
            <a:ext cx="2895600" cy="2620165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SALES INSIGHTS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Quantity sold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Price analysis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Revenue-oriented analysis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7086600" y="1379964"/>
            <a:ext cx="2773680" cy="2620164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REGIONAL INSIGHTS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Region-wise sales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Customer-location patterns</a:t>
            </a:r>
            <a:endParaRPr sz="2000" dirty="0"/>
          </a:p>
        </p:txBody>
      </p:sp>
      <p:sp>
        <p:nvSpPr>
          <p:cNvPr id="6" name="Rounded Rectangle 5"/>
          <p:cNvSpPr/>
          <p:nvPr/>
        </p:nvSpPr>
        <p:spPr>
          <a:xfrm>
            <a:off x="1093563" y="4419600"/>
            <a:ext cx="3474720" cy="192024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TREND INSIGHTS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Time-based sales trends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Comparative analysis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5229922" y="4432610"/>
            <a:ext cx="3474720" cy="192024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300"/>
              </a:spcAft>
              <a:defRPr sz="1400" b="1">
                <a:solidFill>
                  <a:srgbClr val="1F3759"/>
                </a:solidFill>
                <a:latin typeface="Aptos"/>
              </a:defRPr>
            </a:pPr>
            <a:r>
              <a:rPr sz="2000" dirty="0"/>
              <a:t>VISUAL OUTPUTS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Charts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Graphs</a:t>
            </a:r>
            <a:endParaRPr sz="2000" dirty="0"/>
          </a:p>
          <a:p>
            <a:pPr>
              <a:spcAft>
                <a:spcPts val="3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Summary insights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300"/>
              </a:spcAft>
              <a:defRPr sz="800">
                <a:solidFill>
                  <a:srgbClr val="6069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320040"/>
            <a:ext cx="370332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8534400" cy="284077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Mobile Sales Data Analysis System provides a structured approach to understanding mobile sales records using Python.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project combines data loading, cleaning, preprocessing, exploratory analysis and visualization.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It focuses on patterns across brands, products, regions, prices and mobile specifications.</a:t>
            </a:r>
            <a:endParaRPr sz="2000" dirty="0"/>
          </a:p>
          <a:p>
            <a:pPr>
              <a:spcAft>
                <a:spcPts val="600"/>
              </a:spcAft>
              <a:defRPr sz="1400">
                <a:solidFill>
                  <a:srgbClr val="2A2A2A"/>
                </a:solidFill>
                <a:latin typeface="Aptos"/>
              </a:defRPr>
            </a:pPr>
            <a:r>
              <a:rPr sz="2000" dirty="0"/>
              <a:t>• The final analysis will transform raw records into clear and interpretable sales insights.</a:t>
            </a:r>
            <a:endParaRPr sz="2000" dirty="0"/>
          </a:p>
        </p:txBody>
      </p:sp>
      <p:sp>
        <p:nvSpPr>
          <p:cNvPr id="4" name="Rounded Rectangle 3"/>
          <p:cNvSpPr/>
          <p:nvPr/>
        </p:nvSpPr>
        <p:spPr>
          <a:xfrm>
            <a:off x="604099" y="5105400"/>
            <a:ext cx="7726679" cy="43891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rPr sz="2000"/>
              <a:t>DATA  →  CLEANING  →  EDA  →  VISUALIZATION  →  INSIGHTS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r">
              <a:spcAft>
                <a:spcPts val="400"/>
              </a:spcAft>
              <a:defRPr sz="800">
                <a:solidFill>
                  <a:srgbClr val="6069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"/>
            <a:ext cx="10119361" cy="932688"/>
          </a:xfrm>
          <a:prstGeom prst="rect">
            <a:avLst/>
          </a:prstGeom>
          <a:solidFill>
            <a:srgbClr val="1F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-3810000" y="1295995"/>
            <a:ext cx="10332720" cy="640080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E67E22"/>
                </a:solidFill>
              </a:defRPr>
            </a:pPr>
            <a:r>
              <a:rPr sz="3600" dirty="0"/>
              <a:t>THANK YOU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-152400" y="2127281"/>
            <a:ext cx="10424160" cy="411480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/>
              <a:t>Presented By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155265" y="2663840"/>
            <a:ext cx="3855349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t>A. Yugandhar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t>25B11AI026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2355" y="2653061"/>
            <a:ext cx="3505200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t>A. Lokesh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t>25B11AI074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3858768"/>
            <a:ext cx="3855348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t>K. S. Sai Sashank</a:t>
            </a:r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t>25B11AI587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4657" y="3858768"/>
            <a:ext cx="3482898" cy="868680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bIns="36576" rtlCol="0" anchor="t"/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rPr dirty="0"/>
              <a:t>D. Sai Praveen Kumar</a:t>
            </a:r>
            <a:endParaRPr dirty="0"/>
          </a:p>
          <a:p>
            <a:pPr algn="ctr">
              <a:spcAft>
                <a:spcPts val="200"/>
              </a:spcAft>
              <a:defRPr sz="1200">
                <a:solidFill>
                  <a:srgbClr val="606974"/>
                </a:solidFill>
              </a:defRPr>
            </a:pPr>
            <a:r>
              <a:rPr dirty="0"/>
              <a:t>25B21AI022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F3759"/>
                </a:solidFill>
              </a:defRPr>
            </a:pPr>
            <a:r>
              <a:t>Department of Artificial Intelligence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lIns="109728" rIns="109728" bIns="36576" anchor="t">
            <a:spAutoFit/>
          </a:bodyPr>
          <a:lstStyle/>
          <a:p>
            <a:pPr algn="r">
              <a:spcAft>
                <a:spcPts val="200"/>
              </a:spcAft>
              <a:defRPr sz="800">
                <a:solidFill>
                  <a:srgbClr val="6069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4614</Words>
  <Application>WPS Presentation</Application>
  <PresentationFormat>Custom</PresentationFormat>
  <Paragraphs>319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Palatino Linotype</vt:lpstr>
      <vt:lpstr>Aptos</vt:lpstr>
      <vt:lpstr>Segoe UI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AVULA LOKESH</cp:lastModifiedBy>
  <cp:revision>50</cp:revision>
  <cp:lastPrinted>2025-10-14T18:21:00Z</cp:lastPrinted>
  <dcterms:created xsi:type="dcterms:W3CDTF">2025-10-10T08:28:00Z</dcterms:created>
  <dcterms:modified xsi:type="dcterms:W3CDTF">2026-09-02T08:18:10Z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2025-09-12T11:00:00Z</vt:filetime>
  </property>
  <property fmtid="{D5CDD505-2E9C-101B-9397-08002B2CF9AE}" pid="3" name="LastSaved">
    <vt:filetime>2025-10-10T11:00:00Z</vt:filetime>
  </property>
  <property fmtid="{D5CDD505-2E9C-101B-9397-08002B2CF9AE}" pid="4" name="ICV">
    <vt:lpwstr>FB195C4A810542B0ADE0180EEEBAEA77_12</vt:lpwstr>
  </property>
  <property fmtid="{D5CDD505-2E9C-101B-9397-08002B2CF9AE}" pid="5" name="KSOProductBuildVer">
    <vt:lpwstr>1033-12.1.0.28032</vt:lpwstr>
  </property>
</Properties>
</file>