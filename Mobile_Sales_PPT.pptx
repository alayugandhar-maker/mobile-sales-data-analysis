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8" r:id="rId9"/>
    <p:sldId id="264" r:id="rId10"/>
    <p:sldId id="265" r:id="rId11"/>
    <p:sldId id="266" r:id="rId12"/>
    <p:sldId id="267" r:id="rId13"/>
    <p:sldId id="286" r:id="rId14"/>
    <p:sldId id="287" r:id="rId15"/>
    <p:sldId id="284" r:id="rId16"/>
    <p:sldId id="268" r:id="rId17"/>
    <p:sldId id="269" r:id="rId1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F71FB0-D559-4110-9DB0-E200E082B130}" v="10" dt="2026-09-29T08:37:53.497"/>
    <p1510:client id="{524AA2FB-FA60-46D3-A104-B6DE8A70BA8A}" v="6" dt="2026-09-30T06:05:09.0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5992" autoAdjust="0"/>
  </p:normalViewPr>
  <p:slideViewPr>
    <p:cSldViewPr showGuides="1">
      <p:cViewPr varScale="1">
        <p:scale>
          <a:sx n="87" d="100"/>
          <a:sy n="87" d="100"/>
        </p:scale>
        <p:origin x="1373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ayugandhar@gmail.com" userId="7d111e0ee4a97892" providerId="LiveId" clId="{BD280ADE-DB1A-4CCC-9179-783D746C15FC}"/>
    <pc:docChg chg="undo custSel addSld delSld modSld">
      <pc:chgData name="alayugandhar@gmail.com" userId="7d111e0ee4a97892" providerId="LiveId" clId="{BD280ADE-DB1A-4CCC-9179-783D746C15FC}" dt="2026-09-30T06:05:38.951" v="73" actId="1076"/>
      <pc:docMkLst>
        <pc:docMk/>
      </pc:docMkLst>
      <pc:sldChg chg="addSp delSp modSp mod">
        <pc:chgData name="alayugandhar@gmail.com" userId="7d111e0ee4a97892" providerId="LiveId" clId="{BD280ADE-DB1A-4CCC-9179-783D746C15FC}" dt="2026-09-29T09:06:31.565" v="39" actId="20577"/>
        <pc:sldMkLst>
          <pc:docMk/>
          <pc:sldMk cId="0" sldId="257"/>
        </pc:sldMkLst>
        <pc:spChg chg="del">
          <ac:chgData name="alayugandhar@gmail.com" userId="7d111e0ee4a97892" providerId="LiveId" clId="{BD280ADE-DB1A-4CCC-9179-783D746C15FC}" dt="2026-09-29T09:04:59.244" v="12" actId="478"/>
          <ac:spMkLst>
            <pc:docMk/>
            <pc:sldMk cId="0" sldId="257"/>
            <ac:spMk id="2" creationId="{00000000-0000-0000-0000-000000000000}"/>
          </ac:spMkLst>
        </pc:spChg>
        <pc:graphicFrameChg chg="add mod modGraphic">
          <ac:chgData name="alayugandhar@gmail.com" userId="7d111e0ee4a97892" providerId="LiveId" clId="{BD280ADE-DB1A-4CCC-9179-783D746C15FC}" dt="2026-09-29T09:06:31.565" v="39" actId="20577"/>
          <ac:graphicFrameMkLst>
            <pc:docMk/>
            <pc:sldMk cId="0" sldId="257"/>
            <ac:graphicFrameMk id="12" creationId="{CF475034-6C5F-64F3-01BD-3B689D1527B7}"/>
          </ac:graphicFrameMkLst>
        </pc:graphicFrameChg>
      </pc:sldChg>
      <pc:sldChg chg="add del">
        <pc:chgData name="alayugandhar@gmail.com" userId="7d111e0ee4a97892" providerId="LiveId" clId="{BD280ADE-DB1A-4CCC-9179-783D746C15FC}" dt="2026-09-29T09:03:34.242" v="6" actId="2696"/>
        <pc:sldMkLst>
          <pc:docMk/>
          <pc:sldMk cId="0" sldId="263"/>
        </pc:sldMkLst>
      </pc:sldChg>
      <pc:sldChg chg="addSp delSp mod">
        <pc:chgData name="alayugandhar@gmail.com" userId="7d111e0ee4a97892" providerId="LiveId" clId="{BD280ADE-DB1A-4CCC-9179-783D746C15FC}" dt="2026-09-29T09:03:16.388" v="4" actId="22"/>
        <pc:sldMkLst>
          <pc:docMk/>
          <pc:sldMk cId="0" sldId="264"/>
        </pc:sldMkLst>
        <pc:picChg chg="add del">
          <ac:chgData name="alayugandhar@gmail.com" userId="7d111e0ee4a97892" providerId="LiveId" clId="{BD280ADE-DB1A-4CCC-9179-783D746C15FC}" dt="2026-09-29T09:03:16.388" v="4" actId="22"/>
          <ac:picMkLst>
            <pc:docMk/>
            <pc:sldMk cId="0" sldId="264"/>
            <ac:picMk id="7" creationId="{C5E82326-B8B8-588B-8470-508C99EB13C6}"/>
          </ac:picMkLst>
        </pc:picChg>
      </pc:sldChg>
      <pc:sldChg chg="addSp modSp mod">
        <pc:chgData name="alayugandhar@gmail.com" userId="7d111e0ee4a97892" providerId="LiveId" clId="{BD280ADE-DB1A-4CCC-9179-783D746C15FC}" dt="2026-09-29T14:54:27.756" v="45" actId="14100"/>
        <pc:sldMkLst>
          <pc:docMk/>
          <pc:sldMk cId="0" sldId="267"/>
        </pc:sldMkLst>
        <pc:picChg chg="add mod">
          <ac:chgData name="alayugandhar@gmail.com" userId="7d111e0ee4a97892" providerId="LiveId" clId="{BD280ADE-DB1A-4CCC-9179-783D746C15FC}" dt="2026-09-29T14:54:27.756" v="45" actId="14100"/>
          <ac:picMkLst>
            <pc:docMk/>
            <pc:sldMk cId="0" sldId="267"/>
            <ac:picMk id="4" creationId="{A9E0BC95-2392-1EFE-8A51-344CAB3E42C4}"/>
          </ac:picMkLst>
        </pc:picChg>
      </pc:sldChg>
      <pc:sldChg chg="delSp modSp add del mod">
        <pc:chgData name="alayugandhar@gmail.com" userId="7d111e0ee4a97892" providerId="LiveId" clId="{BD280ADE-DB1A-4CCC-9179-783D746C15FC}" dt="2026-09-30T05:59:26.451" v="68" actId="2696"/>
        <pc:sldMkLst>
          <pc:docMk/>
          <pc:sldMk cId="0" sldId="285"/>
        </pc:sldMkLst>
        <pc:spChg chg="del mod">
          <ac:chgData name="alayugandhar@gmail.com" userId="7d111e0ee4a97892" providerId="LiveId" clId="{BD280ADE-DB1A-4CCC-9179-783D746C15FC}" dt="2026-09-29T09:04:27.085" v="10" actId="478"/>
          <ac:spMkLst>
            <pc:docMk/>
            <pc:sldMk cId="0" sldId="285"/>
            <ac:spMk id="6" creationId="{00000000-0000-0000-0000-000000000000}"/>
          </ac:spMkLst>
        </pc:spChg>
        <pc:spChg chg="del">
          <ac:chgData name="alayugandhar@gmail.com" userId="7d111e0ee4a97892" providerId="LiveId" clId="{BD280ADE-DB1A-4CCC-9179-783D746C15FC}" dt="2026-09-29T09:08:13.264" v="41" actId="478"/>
          <ac:spMkLst>
            <pc:docMk/>
            <pc:sldMk cId="0" sldId="285"/>
            <ac:spMk id="28" creationId="{00000000-0000-0000-0000-000000000000}"/>
          </ac:spMkLst>
        </pc:spChg>
        <pc:spChg chg="mod">
          <ac:chgData name="alayugandhar@gmail.com" userId="7d111e0ee4a97892" providerId="LiveId" clId="{BD280ADE-DB1A-4CCC-9179-783D746C15FC}" dt="2026-09-29T09:07:10.916" v="40" actId="14100"/>
          <ac:spMkLst>
            <pc:docMk/>
            <pc:sldMk cId="0" sldId="285"/>
            <ac:spMk id="35" creationId="{00000000-0000-0000-0000-000000000000}"/>
          </ac:spMkLst>
        </pc:spChg>
        <pc:graphicFrameChg chg="modGraphic">
          <ac:chgData name="alayugandhar@gmail.com" userId="7d111e0ee4a97892" providerId="LiveId" clId="{BD280ADE-DB1A-4CCC-9179-783D746C15FC}" dt="2026-09-29T09:04:02.713" v="8" actId="14100"/>
          <ac:graphicFrameMkLst>
            <pc:docMk/>
            <pc:sldMk cId="0" sldId="285"/>
            <ac:graphicFrameMk id="5" creationId="{00000000-0000-0000-0000-000000000000}"/>
          </ac:graphicFrameMkLst>
        </pc:graphicFrameChg>
      </pc:sldChg>
      <pc:sldChg chg="addSp delSp modSp add mod setBg">
        <pc:chgData name="alayugandhar@gmail.com" userId="7d111e0ee4a97892" providerId="LiveId" clId="{BD280ADE-DB1A-4CCC-9179-783D746C15FC}" dt="2026-09-29T14:56:44.651" v="62" actId="14100"/>
        <pc:sldMkLst>
          <pc:docMk/>
          <pc:sldMk cId="2731704480" sldId="286"/>
        </pc:sldMkLst>
        <pc:spChg chg="mod">
          <ac:chgData name="alayugandhar@gmail.com" userId="7d111e0ee4a97892" providerId="LiveId" clId="{BD280ADE-DB1A-4CCC-9179-783D746C15FC}" dt="2026-09-29T14:56:17.649" v="56" actId="26606"/>
          <ac:spMkLst>
            <pc:docMk/>
            <pc:sldMk cId="2731704480" sldId="286"/>
            <ac:spMk id="2" creationId="{97C4EF91-5AD2-AE0A-85E5-05F5B58B1A0A}"/>
          </ac:spMkLst>
        </pc:spChg>
        <pc:spChg chg="mod ord">
          <ac:chgData name="alayugandhar@gmail.com" userId="7d111e0ee4a97892" providerId="LiveId" clId="{BD280ADE-DB1A-4CCC-9179-783D746C15FC}" dt="2026-09-29T14:56:17.649" v="56" actId="26606"/>
          <ac:spMkLst>
            <pc:docMk/>
            <pc:sldMk cId="2731704480" sldId="286"/>
            <ac:spMk id="8" creationId="{16680503-0E1F-C05D-FE1C-4E644628B177}"/>
          </ac:spMkLst>
        </pc:spChg>
        <pc:spChg chg="add del">
          <ac:chgData name="alayugandhar@gmail.com" userId="7d111e0ee4a97892" providerId="LiveId" clId="{BD280ADE-DB1A-4CCC-9179-783D746C15FC}" dt="2026-09-29T14:56:17.649" v="56" actId="26606"/>
          <ac:spMkLst>
            <pc:docMk/>
            <pc:sldMk cId="2731704480" sldId="286"/>
            <ac:spMk id="13" creationId="{99ED5833-B85B-4103-8A3B-CAB0308E6C15}"/>
          </ac:spMkLst>
        </pc:spChg>
        <pc:picChg chg="del">
          <ac:chgData name="alayugandhar@gmail.com" userId="7d111e0ee4a97892" providerId="LiveId" clId="{BD280ADE-DB1A-4CCC-9179-783D746C15FC}" dt="2026-09-29T14:55:02.557" v="47" actId="478"/>
          <ac:picMkLst>
            <pc:docMk/>
            <pc:sldMk cId="2731704480" sldId="286"/>
            <ac:picMk id="4" creationId="{25C1A0CD-A848-A185-AAD0-6D263FDCB301}"/>
          </ac:picMkLst>
        </pc:picChg>
        <pc:picChg chg="add mod">
          <ac:chgData name="alayugandhar@gmail.com" userId="7d111e0ee4a97892" providerId="LiveId" clId="{BD280ADE-DB1A-4CCC-9179-783D746C15FC}" dt="2026-09-29T14:56:44.651" v="62" actId="14100"/>
          <ac:picMkLst>
            <pc:docMk/>
            <pc:sldMk cId="2731704480" sldId="286"/>
            <ac:picMk id="5" creationId="{2626DC99-B1EA-3088-26BF-6A88460E3A1F}"/>
          </ac:picMkLst>
        </pc:picChg>
        <pc:picChg chg="add del mod">
          <ac:chgData name="alayugandhar@gmail.com" userId="7d111e0ee4a97892" providerId="LiveId" clId="{BD280ADE-DB1A-4CCC-9179-783D746C15FC}" dt="2026-09-29T14:56:37.866" v="60" actId="478"/>
          <ac:picMkLst>
            <pc:docMk/>
            <pc:sldMk cId="2731704480" sldId="286"/>
            <ac:picMk id="7" creationId="{7D2A49DB-9780-F1C1-5C78-885C433E43E4}"/>
          </ac:picMkLst>
        </pc:picChg>
      </pc:sldChg>
      <pc:sldChg chg="addSp delSp modSp add mod">
        <pc:chgData name="alayugandhar@gmail.com" userId="7d111e0ee4a97892" providerId="LiveId" clId="{BD280ADE-DB1A-4CCC-9179-783D746C15FC}" dt="2026-09-29T14:57:23.115" v="67" actId="14100"/>
        <pc:sldMkLst>
          <pc:docMk/>
          <pc:sldMk cId="1649548807" sldId="287"/>
        </pc:sldMkLst>
        <pc:picChg chg="add mod">
          <ac:chgData name="alayugandhar@gmail.com" userId="7d111e0ee4a97892" providerId="LiveId" clId="{BD280ADE-DB1A-4CCC-9179-783D746C15FC}" dt="2026-09-29T14:57:23.115" v="67" actId="14100"/>
          <ac:picMkLst>
            <pc:docMk/>
            <pc:sldMk cId="1649548807" sldId="287"/>
            <ac:picMk id="4" creationId="{16C4B274-1DFD-5EAD-7B76-0459DD3A8E8E}"/>
          </ac:picMkLst>
        </pc:picChg>
        <pc:picChg chg="del">
          <ac:chgData name="alayugandhar@gmail.com" userId="7d111e0ee4a97892" providerId="LiveId" clId="{BD280ADE-DB1A-4CCC-9179-783D746C15FC}" dt="2026-09-29T14:56:56.065" v="64" actId="478"/>
          <ac:picMkLst>
            <pc:docMk/>
            <pc:sldMk cId="1649548807" sldId="287"/>
            <ac:picMk id="5" creationId="{F03DDD73-9DB0-321C-4BE2-442CB5337F81}"/>
          </ac:picMkLst>
        </pc:picChg>
      </pc:sldChg>
      <pc:sldChg chg="modSp add mod setBg">
        <pc:chgData name="alayugandhar@gmail.com" userId="7d111e0ee4a97892" providerId="LiveId" clId="{BD280ADE-DB1A-4CCC-9179-783D746C15FC}" dt="2026-09-30T06:05:38.951" v="73" actId="1076"/>
        <pc:sldMkLst>
          <pc:docMk/>
          <pc:sldMk cId="0" sldId="288"/>
        </pc:sldMkLst>
        <pc:spChg chg="mod">
          <ac:chgData name="alayugandhar@gmail.com" userId="7d111e0ee4a97892" providerId="LiveId" clId="{BD280ADE-DB1A-4CCC-9179-783D746C15FC}" dt="2026-09-30T06:05:38.951" v="73" actId="1076"/>
          <ac:spMkLst>
            <pc:docMk/>
            <pc:sldMk cId="0" sldId="288"/>
            <ac:spMk id="8" creationId="{00000000-0000-0000-0000-000000000000}"/>
          </ac:spMkLst>
        </pc:spChg>
        <pc:graphicFrameChg chg="mod modGraphic">
          <ac:chgData name="alayugandhar@gmail.com" userId="7d111e0ee4a97892" providerId="LiveId" clId="{BD280ADE-DB1A-4CCC-9179-783D746C15FC}" dt="2026-09-30T06:05:35.147" v="72" actId="14100"/>
          <ac:graphicFrameMkLst>
            <pc:docMk/>
            <pc:sldMk cId="0" sldId="288"/>
            <ac:graphicFrameMk id="5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66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353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53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>
        <a:defRPr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0058400" cy="932688"/>
          </a:xfrm>
          <a:prstGeom prst="rect">
            <a:avLst/>
          </a:prstGeom>
          <a:solidFill>
            <a:srgbClr val="1F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/>
            </a:pP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95400" y="2404110"/>
            <a:ext cx="6964680" cy="213804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F3759"/>
                </a:solidFill>
              </a:defRPr>
            </a:pPr>
            <a:r>
              <a:rPr lang="en-US" sz="2400" dirty="0"/>
              <a:t>           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Essentials  Project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700" b="1">
                <a:solidFill>
                  <a:srgbClr val="1F3759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>
              <a:spcAft>
                <a:spcPts val="400"/>
              </a:spcAft>
              <a:defRPr sz="1700" b="1">
                <a:solidFill>
                  <a:srgbClr val="1F3759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REVIEW 1 &amp; 2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700" b="1">
                <a:solidFill>
                  <a:srgbClr val="2A2A2A"/>
                </a:solidFill>
              </a:defRPr>
            </a:pPr>
            <a:endParaRPr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700" b="1">
                <a:solidFill>
                  <a:srgbClr val="2A2A2A"/>
                </a:solidFill>
              </a:defRPr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Sales Data Analysis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5029200"/>
            <a:ext cx="6394450" cy="64071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606974"/>
                </a:solidFill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400"/>
              </a:spcAft>
              <a:defRPr sz="800">
                <a:solidFill>
                  <a:srgbClr val="606974"/>
                </a:solidFill>
              </a:defRPr>
            </a:pPr>
            <a:r>
              <a:t>1</a:t>
            </a:r>
          </a:p>
        </p:txBody>
      </p:sp>
      <p:pic>
        <p:nvPicPr>
          <p:cNvPr id="3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899" y="1067026"/>
            <a:ext cx="4610910" cy="6286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131820" y="1185787"/>
            <a:ext cx="3794760" cy="438912"/>
          </a:xfrm>
          <a:prstGeom prst="roundRect">
            <a:avLst/>
          </a:prstGeom>
          <a:solidFill>
            <a:srgbClr val="1F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31820" y="1730039"/>
            <a:ext cx="3794760" cy="438912"/>
          </a:xfrm>
          <a:prstGeom prst="roundRect">
            <a:avLst/>
          </a:prstGeom>
          <a:solidFill>
            <a:srgbClr val="BE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31820" y="2274291"/>
            <a:ext cx="3794760" cy="438912"/>
          </a:xfrm>
          <a:prstGeom prst="roundRect">
            <a:avLst/>
          </a:prstGeom>
          <a:solidFill>
            <a:srgbClr val="1F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Limitations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37682" y="2807573"/>
            <a:ext cx="3794760" cy="438912"/>
          </a:xfrm>
          <a:prstGeom prst="roundRect">
            <a:avLst/>
          </a:prstGeom>
          <a:solidFill>
            <a:srgbClr val="BE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31820" y="3320372"/>
            <a:ext cx="3794760" cy="438912"/>
          </a:xfrm>
          <a:prstGeom prst="roundRect">
            <a:avLst/>
          </a:prstGeom>
          <a:solidFill>
            <a:srgbClr val="1F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31820" y="3830967"/>
            <a:ext cx="3794760" cy="438912"/>
          </a:xfrm>
          <a:prstGeom prst="roundRect">
            <a:avLst/>
          </a:prstGeom>
          <a:solidFill>
            <a:srgbClr val="BE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31820" y="4352573"/>
            <a:ext cx="3794760" cy="438912"/>
          </a:xfrm>
          <a:prstGeom prst="roundRect">
            <a:avLst/>
          </a:prstGeom>
          <a:solidFill>
            <a:srgbClr val="1F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31820" y="4828002"/>
            <a:ext cx="3794760" cy="438912"/>
          </a:xfrm>
          <a:prstGeom prst="roundRect">
            <a:avLst/>
          </a:prstGeom>
          <a:solidFill>
            <a:srgbClr val="BE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Screens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096651" y="5822905"/>
            <a:ext cx="3794760" cy="43891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400"/>
              </a:spcAft>
              <a:defRPr sz="800">
                <a:solidFill>
                  <a:srgbClr val="606974"/>
                </a:solidFill>
              </a:defRPr>
            </a:pPr>
            <a:r>
              <a:t>2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9C03337-62F4-402F-3A11-16E10ACF7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949502"/>
              </p:ext>
            </p:extLst>
          </p:nvPr>
        </p:nvGraphicFramePr>
        <p:xfrm>
          <a:off x="3131820" y="5360148"/>
          <a:ext cx="3703320" cy="428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>
                  <a:extLst>
                    <a:ext uri="{9D8B030D-6E8A-4147-A177-3AD203B41FA5}">
                      <a16:colId xmlns:a16="http://schemas.microsoft.com/office/drawing/2014/main" val="2860197481"/>
                    </a:ext>
                  </a:extLst>
                </a:gridCol>
              </a:tblGrid>
              <a:tr h="428372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</a:rPr>
                        <a:t>                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Workflow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0678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F475034-6C5F-64F3-01BD-3B689D152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478225"/>
              </p:ext>
            </p:extLst>
          </p:nvPr>
        </p:nvGraphicFramePr>
        <p:xfrm>
          <a:off x="2811780" y="216236"/>
          <a:ext cx="4343400" cy="65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1664928819"/>
                    </a:ext>
                  </a:extLst>
                </a:gridCol>
              </a:tblGrid>
              <a:tr h="6502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CONTENTS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8427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177540" y="152400"/>
            <a:ext cx="37033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676400"/>
            <a:ext cx="9448800" cy="3779496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Python-based data analysis project focused on understanding mobile phone sales data.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selected dataset contains 24,983 records and 14 attributes.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data covers product, brand, price, quantity sold, customer, region and mobile specification information.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project focuses on data exploration, cleaning, preprocessing, exploratory data analysis and visualization.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objective is to identify meaningful sales, product and regional patterns from the available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400"/>
              </a:spcAft>
              <a:defRPr sz="800">
                <a:solidFill>
                  <a:srgbClr val="60697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177540" y="234008"/>
            <a:ext cx="37033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4800" y="1236299"/>
            <a:ext cx="2763644" cy="448056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</a:t>
            </a:r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Product</a:t>
            </a:r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Price</a:t>
            </a:r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Processor</a:t>
            </a:r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RAM</a:t>
            </a:r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234440"/>
            <a:ext cx="2958084" cy="448056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Sold</a:t>
            </a:r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Inward Date</a:t>
            </a:r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Dispatch Date</a:t>
            </a:r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Price × Quantity (derived sales value)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81800" y="1256852"/>
            <a:ext cx="2971800" cy="448056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CUSTOMER &amp; REGION</a:t>
            </a:r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Customer Name</a:t>
            </a:r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Customer Location</a:t>
            </a:r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Region</a:t>
            </a:r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Regional comparisons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28600" y="6291072"/>
            <a:ext cx="10058400" cy="455509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1F375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understand sales performance and patterns using data analysis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400"/>
              </a:spcAft>
              <a:defRPr sz="800">
                <a:solidFill>
                  <a:srgbClr val="60697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667000" y="304800"/>
            <a:ext cx="37033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828800"/>
            <a:ext cx="8610600" cy="3779496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sales records are stored in structured tables such as CSV or spreadsheet files.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raw data contains useful information, but insights are not immediately visible.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may rely on filtering, grouping and manual comparison to understand sales performance.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Comparing brands, products, regions and specifications becomes difficult as the dataset grows.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 trends require additional analysis and chart generation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400"/>
              </a:spcAft>
              <a:defRPr sz="800">
                <a:solidFill>
                  <a:srgbClr val="60697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895600" y="215887"/>
            <a:ext cx="533400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EXISTING SYSTEM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400"/>
              </a:spcAft>
              <a:defRPr sz="800">
                <a:solidFill>
                  <a:srgbClr val="606974"/>
                </a:solidFill>
              </a:defRPr>
            </a:pPr>
            <a:r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0DD65E-4D9E-6E84-266F-B54307E082A7}"/>
              </a:ext>
            </a:extLst>
          </p:cNvPr>
          <p:cNvSpPr txBox="1"/>
          <p:nvPr/>
        </p:nvSpPr>
        <p:spPr>
          <a:xfrm>
            <a:off x="457200" y="1371600"/>
            <a:ext cx="818253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— Large Data Volume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work increases with record count.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— Difficult Comparisons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dimensions are harder to compare quickly.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— Hidden Sales Patterns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 are not obvious from raw tables.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 — Limited Visualization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 need to be created separately.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 — Specification Analysis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RAM, ROM and processor require grouped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0" y="304800"/>
            <a:ext cx="37033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400"/>
              </a:spcAft>
              <a:defRPr sz="800">
                <a:solidFill>
                  <a:srgbClr val="606974"/>
                </a:solidFill>
              </a:defRPr>
            </a:pPr>
            <a:r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739E29-8BA9-4B42-77E2-824DC73658A7}"/>
              </a:ext>
            </a:extLst>
          </p:cNvPr>
          <p:cNvSpPr txBox="1"/>
          <p:nvPr/>
        </p:nvSpPr>
        <p:spPr>
          <a:xfrm>
            <a:off x="381000" y="1007814"/>
            <a:ext cx="9296400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</a:p>
          <a:p>
            <a:pPr>
              <a:buNone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Dataset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Load &amp; Explore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Clean &amp; Prepare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Exploratory Data Analysis (EDA)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Visualize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Interpret Insights</a:t>
            </a:r>
          </a:p>
          <a:p>
            <a:pPr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Key Benefits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data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comparison of sales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identification of sales patterns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visual understanding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 processing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Focus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Product-wise sales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Brand-wise sales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Region-wise sales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Customer-location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and quantity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and ROM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specification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Time-based sales trends </a:t>
            </a:r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735074" y="1147801"/>
            <a:ext cx="5469255" cy="437540"/>
          </a:xfrm>
          <a:prstGeom prst="roundRect">
            <a:avLst/>
          </a:prstGeom>
          <a:solidFill>
            <a:srgbClr val="F78414"/>
          </a:solidFill>
          <a:ln>
            <a:solidFill>
              <a:srgbClr val="F78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98" b="1" dirty="0">
                <a:solidFill>
                  <a:srgbClr val="FFFFFF"/>
                </a:solidFill>
                <a:latin typeface="Times New Roman" panose="02020603050405020304" pitchFamily="18" charset="0"/>
                <a:ea typeface="Cascadia Code ExtraLight" panose="020B0609020000020004" pitchFamily="49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6631" y="1796568"/>
            <a:ext cx="2877711" cy="2954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20" b="1" dirty="0">
                <a:solidFill>
                  <a:srgbClr val="2B4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sales dataset used for analysis</a:t>
            </a:r>
            <a:endParaRPr sz="1320" b="1" dirty="0">
              <a:solidFill>
                <a:srgbClr val="2B415D"/>
              </a:solidFill>
              <a:latin typeface="Georgi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3153" y="2128495"/>
            <a:ext cx="1297534" cy="286664"/>
          </a:xfrm>
          <a:prstGeom prst="roundRect">
            <a:avLst/>
          </a:prstGeom>
          <a:solidFill>
            <a:srgbClr val="3077AE"/>
          </a:solidFill>
          <a:ln>
            <a:solidFill>
              <a:srgbClr val="307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5" b="1">
                <a:solidFill>
                  <a:srgbClr val="FFFFFF"/>
                </a:solidFill>
                <a:latin typeface="Arial"/>
              </a:rPr>
              <a:t>Sample Dataset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533265"/>
              </p:ext>
            </p:extLst>
          </p:nvPr>
        </p:nvGraphicFramePr>
        <p:xfrm>
          <a:off x="414908" y="2165391"/>
          <a:ext cx="9338690" cy="3042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0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9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53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53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91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27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9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865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130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474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34657"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18860" marR="18860" marT="15088" marB="15088">
                    <a:solidFill>
                      <a:srgbClr val="3077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Arial"/>
                        </a:rPr>
                        <a:t>Brand</a:t>
                      </a:r>
                    </a:p>
                  </a:txBody>
                  <a:tcPr marL="18860" marR="18860" marT="15088" marB="15088">
                    <a:solidFill>
                      <a:srgbClr val="3077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Arial"/>
                        </a:rPr>
                        <a:t>Product Code</a:t>
                      </a:r>
                    </a:p>
                  </a:txBody>
                  <a:tcPr marL="18860" marR="18860" marT="15088" marB="15088">
                    <a:solidFill>
                      <a:srgbClr val="3077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Arial"/>
                        </a:rPr>
                        <a:t>Product Specification</a:t>
                      </a:r>
                    </a:p>
                  </a:txBody>
                  <a:tcPr marL="18860" marR="18860" marT="15088" marB="15088">
                    <a:solidFill>
                      <a:srgbClr val="3077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Arial"/>
                        </a:rPr>
                        <a:t>Price</a:t>
                      </a:r>
                    </a:p>
                  </a:txBody>
                  <a:tcPr marL="18860" marR="18860" marT="15088" marB="15088">
                    <a:solidFill>
                      <a:srgbClr val="3077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Arial"/>
                        </a:rPr>
                        <a:t>Inward Date</a:t>
                      </a:r>
                    </a:p>
                  </a:txBody>
                  <a:tcPr marL="18860" marR="18860" marT="15088" marB="15088">
                    <a:solidFill>
                      <a:srgbClr val="3077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Arial"/>
                        </a:rPr>
                        <a:t>Dispatch Date</a:t>
                      </a:r>
                    </a:p>
                  </a:txBody>
                  <a:tcPr marL="18860" marR="18860" marT="15088" marB="15088">
                    <a:solidFill>
                      <a:srgbClr val="3077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Arial"/>
                        </a:rPr>
                        <a:t>Quantity Sold</a:t>
                      </a:r>
                    </a:p>
                  </a:txBody>
                  <a:tcPr marL="18860" marR="18860" marT="15088" marB="15088">
                    <a:solidFill>
                      <a:srgbClr val="3077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Arial"/>
                        </a:rPr>
                        <a:t>Customer Name</a:t>
                      </a:r>
                    </a:p>
                  </a:txBody>
                  <a:tcPr marL="18860" marR="18860" marT="15088" marB="15088">
                    <a:solidFill>
                      <a:srgbClr val="3077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Arial"/>
                        </a:rPr>
                        <a:t>Customer Location</a:t>
                      </a:r>
                    </a:p>
                  </a:txBody>
                  <a:tcPr marL="18860" marR="18860" marT="15088" marB="15088">
                    <a:solidFill>
                      <a:srgbClr val="3077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Arial"/>
                        </a:rPr>
                        <a:t>Region</a:t>
                      </a:r>
                    </a:p>
                  </a:txBody>
                  <a:tcPr marL="18860" marR="18860" marT="15088" marB="15088">
                    <a:solidFill>
                      <a:srgbClr val="3077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Arial"/>
                        </a:rPr>
                        <a:t>Processor Specification</a:t>
                      </a:r>
                    </a:p>
                  </a:txBody>
                  <a:tcPr marL="18860" marR="18860" marT="15088" marB="15088">
                    <a:solidFill>
                      <a:srgbClr val="3077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Arial"/>
                        </a:rPr>
                        <a:t>RAM</a:t>
                      </a:r>
                    </a:p>
                  </a:txBody>
                  <a:tcPr marL="18860" marR="18860" marT="15088" marB="15088">
                    <a:solidFill>
                      <a:srgbClr val="3077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Arial"/>
                        </a:rPr>
                        <a:t>ROM</a:t>
                      </a:r>
                    </a:p>
                  </a:txBody>
                  <a:tcPr marL="18860" marR="18860" marT="15088" marB="15088">
                    <a:solidFill>
                      <a:srgbClr val="3077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657"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Mobile Phone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Motorola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88EB4558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Site candidate acti…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78,570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02-08-2023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03-08-2023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William Hess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South Kelsey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Central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Snapdragon 7 Gen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12GB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128GB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657"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Mobile Phone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Samsung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9F975B08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Energy special low …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159,826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19-03-2025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20-03-2025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Leah Copeland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South Todd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Central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MediaTek Dimensity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8GB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256GB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657"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Mobile Phone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Dell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14932CAE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Could before almost…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11,670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10-10-2023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16-10-2023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Nicole Gonzalez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South Miguel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North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Apple A-Series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16GB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256GB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657"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Mobile Phone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Motorola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E3CF42BE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 dirty="0">
                          <a:solidFill>
                            <a:srgbClr val="2D3746"/>
                          </a:solidFill>
                          <a:latin typeface="Arial"/>
                        </a:rPr>
                        <a:t>Responsibility form…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174,698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09-02-2025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20-03-2025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Miranda Clayton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North Deanna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North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MediaTek Dimensity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6GB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64GB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657"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Mobile Phone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Apple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F54013D6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To say system loss …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51,251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03-04-2023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19-04-2023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Ms. Katie Anders…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Lake Laurenfort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North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Snapdragon 8 Gen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4GB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256GB</a:t>
                      </a:r>
                    </a:p>
                  </a:txBody>
                  <a:tcPr marL="15088" marR="15088" marT="11316" marB="1131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661">
                <a:tc>
                  <a:txBody>
                    <a:bodyPr/>
                    <a:lstStyle/>
                    <a:p>
                      <a:pPr algn="ctr"/>
                      <a:r>
                        <a:rPr sz="400" dirty="0">
                          <a:solidFill>
                            <a:srgbClr val="2D3746"/>
                          </a:solidFill>
                          <a:latin typeface="Arial"/>
                        </a:rPr>
                        <a:t>Mobile Phone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Toshiba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38604169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At American discuss…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179,710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 dirty="0">
                          <a:solidFill>
                            <a:srgbClr val="2D3746"/>
                          </a:solidFill>
                          <a:latin typeface="Arial"/>
                        </a:rPr>
                        <a:t>11-04-2024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28-04-2024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Jennifer Taylor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Allenside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East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Snapdragon 7s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>
                          <a:solidFill>
                            <a:srgbClr val="2D3746"/>
                          </a:solidFill>
                          <a:latin typeface="Arial"/>
                        </a:rPr>
                        <a:t>6GB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 dirty="0">
                          <a:solidFill>
                            <a:srgbClr val="2D3746"/>
                          </a:solidFill>
                          <a:latin typeface="Arial"/>
                        </a:rPr>
                        <a:t>512GB</a:t>
                      </a:r>
                    </a:p>
                  </a:txBody>
                  <a:tcPr marL="15088" marR="15088" marT="11316" marB="11316">
                    <a:solidFill>
                      <a:srgbClr val="EB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24383" y="5372329"/>
            <a:ext cx="2904363" cy="1252271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2034" y="5381954"/>
            <a:ext cx="1249061" cy="270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5" b="1" dirty="0">
                <a:solidFill>
                  <a:srgbClr val="2B4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3153" y="5618170"/>
            <a:ext cx="2678049" cy="100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90" dirty="0">
                <a:solidFill>
                  <a:srgbClr val="2D3746"/>
                </a:solidFill>
                <a:latin typeface="Arial"/>
              </a:rPr>
              <a:t>• </a:t>
            </a:r>
            <a:r>
              <a:rPr sz="990" dirty="0">
                <a:solidFill>
                  <a:srgbClr val="2D37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&amp; Brand
• Product Code &amp; Specification
• Price &amp; Quantity Sold
• Inward &amp; Dispatch Dates
• Customer &amp; Region
• Processor, RAM &amp; ROM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0674" y="5357241"/>
            <a:ext cx="2904363" cy="126735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0775" y="5430598"/>
            <a:ext cx="1308371" cy="270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5" b="1" dirty="0">
                <a:solidFill>
                  <a:srgbClr val="2B4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8568" y="5651450"/>
            <a:ext cx="2678049" cy="100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19" dirty="0">
                <a:solidFill>
                  <a:srgbClr val="2D3746"/>
                </a:solidFill>
                <a:latin typeface="Arial"/>
              </a:rPr>
              <a:t>• </a:t>
            </a:r>
            <a:r>
              <a:rPr sz="990" dirty="0">
                <a:solidFill>
                  <a:srgbClr val="2D3746"/>
                </a:solidFill>
                <a:latin typeface="Arial"/>
              </a:rPr>
              <a:t>24,983 Records
• 14 Columns
• 20 Brands
• Mobile Sales Data
• Customer &amp; Regional Data
• Product &amp; Sales Information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06438" y="5296891"/>
            <a:ext cx="2904363" cy="126735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08208" y="5324985"/>
            <a:ext cx="1670650" cy="270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5" b="1" dirty="0">
                <a:solidFill>
                  <a:srgbClr val="2B4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Libraries 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7139" y="5621274"/>
            <a:ext cx="2678049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90" dirty="0">
                <a:solidFill>
                  <a:srgbClr val="2D37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Python
• Pandas
• NumPy
• Matplotlib
• Seaborn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819400" y="381000"/>
            <a:ext cx="37033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4800" y="1386840"/>
            <a:ext cx="3870960" cy="534924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Processor: Intel i3 or above</a:t>
            </a:r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RAM: Minimum 4 GB</a:t>
            </a:r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Storage: 20 GB</a:t>
            </a:r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Keyboard &amp; Mouse</a:t>
            </a:r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Monitor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447800"/>
            <a:ext cx="3794760" cy="522732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Google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Jupyter Notebook</a:t>
            </a:r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Pandas</a:t>
            </a:r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NumPy</a:t>
            </a:r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Matplotlib</a:t>
            </a:r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Seaborn</a:t>
            </a:r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400"/>
              </a:spcAft>
              <a:defRPr sz="800">
                <a:solidFill>
                  <a:srgbClr val="60697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562100" y="381000"/>
            <a:ext cx="693420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73152" rtlCol="0" anchor="t"/>
          <a:lstStyle/>
          <a:p>
            <a:pPr algn="ctr">
              <a:spcAft>
                <a:spcPts val="3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— DATA PREPARATION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171" y="1234440"/>
            <a:ext cx="3391829" cy="402336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73152" rtlCol="0" anchor="t"/>
          <a:lstStyle/>
          <a:p>
            <a:pPr algn="ctr">
              <a:spcAft>
                <a:spcPts val="3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 DATA LOADING</a:t>
            </a:r>
          </a:p>
          <a:p>
            <a:pPr>
              <a:spcAft>
                <a:spcPts val="3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Import libraries</a:t>
            </a:r>
          </a:p>
          <a:p>
            <a:pPr>
              <a:spcAft>
                <a:spcPts val="3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Read the CSV dataset</a:t>
            </a:r>
          </a:p>
          <a:p>
            <a:pPr>
              <a:spcAft>
                <a:spcPts val="3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Inspect initial records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1683" y="1243733"/>
            <a:ext cx="3237385" cy="402336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73152" rtlCol="0" anchor="t"/>
          <a:lstStyle/>
          <a:p>
            <a:pPr algn="ctr">
              <a:spcAft>
                <a:spcPts val="3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 EXPLORATION</a:t>
            </a:r>
          </a:p>
          <a:p>
            <a:pPr>
              <a:spcAft>
                <a:spcPts val="3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Check shape</a:t>
            </a:r>
          </a:p>
          <a:p>
            <a:pPr>
              <a:spcAft>
                <a:spcPts val="3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Inspect columns</a:t>
            </a:r>
          </a:p>
          <a:p>
            <a:pPr>
              <a:spcAft>
                <a:spcPts val="3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Check data types</a:t>
            </a:r>
          </a:p>
          <a:p>
            <a:pPr>
              <a:spcAft>
                <a:spcPts val="3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Check missing values</a:t>
            </a:r>
          </a:p>
          <a:p>
            <a:pPr>
              <a:spcAft>
                <a:spcPts val="3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Review statistics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2015" y="1128541"/>
            <a:ext cx="2856385" cy="4138552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73152" rtlCol="0" anchor="t"/>
          <a:lstStyle/>
          <a:p>
            <a:pPr algn="ctr">
              <a:spcAft>
                <a:spcPts val="3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 CLEANING</a:t>
            </a:r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Check duplicates</a:t>
            </a:r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Review missing cells (0 in current file)</a:t>
            </a:r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Validate numerical fields</a:t>
            </a:r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Convert date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64008" rIns="109728" bIns="73152" anchor="t">
            <a:spAutoFit/>
          </a:bodyPr>
          <a:lstStyle/>
          <a:p>
            <a:pPr algn="r">
              <a:spcAft>
                <a:spcPts val="300"/>
              </a:spcAft>
              <a:defRPr sz="800">
                <a:solidFill>
                  <a:srgbClr val="60697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83664" y="390331"/>
            <a:ext cx="6291072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73152" rtlCol="0" anchor="t"/>
          <a:lstStyle/>
          <a:p>
            <a:pPr algn="ctr">
              <a:spcAft>
                <a:spcPts val="3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— EDA &amp; VISUALIZATION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-76200" y="1345990"/>
            <a:ext cx="3200400" cy="452628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73152" rtlCol="0" anchor="t"/>
          <a:lstStyle/>
          <a:p>
            <a:pPr algn="ctr">
              <a:spcAft>
                <a:spcPts val="3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Prepare categorical fields</a:t>
            </a:r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Process date information</a:t>
            </a:r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Validate numerical data</a:t>
            </a:r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 derived measures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54205" y="1362716"/>
            <a:ext cx="3436620" cy="452628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73152" rtlCol="0" anchor="t"/>
          <a:lstStyle/>
          <a:p>
            <a:pPr algn="ctr">
              <a:spcAft>
                <a:spcPts val="3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ANALYSIS</a:t>
            </a:r>
          </a:p>
          <a:p>
            <a:pPr>
              <a:spcAft>
                <a:spcPts val="3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Brand-wise sales</a:t>
            </a:r>
          </a:p>
          <a:p>
            <a:pPr>
              <a:spcAft>
                <a:spcPts val="3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Product-wise sales</a:t>
            </a:r>
          </a:p>
          <a:p>
            <a:pPr>
              <a:spcAft>
                <a:spcPts val="3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Region-wise sales</a:t>
            </a:r>
          </a:p>
          <a:p>
            <a:pPr>
              <a:spcAft>
                <a:spcPts val="3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Price &amp; quantity</a:t>
            </a:r>
          </a:p>
          <a:p>
            <a:pPr>
              <a:spcAft>
                <a:spcPts val="3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RAM / ROM</a:t>
            </a:r>
          </a:p>
          <a:p>
            <a:pPr>
              <a:spcAft>
                <a:spcPts val="3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Processor</a:t>
            </a:r>
          </a:p>
          <a:p>
            <a:pPr>
              <a:spcAft>
                <a:spcPts val="3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Time-based trends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355282"/>
            <a:ext cx="3020308" cy="452628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73152" rtlCol="0" anchor="t"/>
          <a:lstStyle/>
          <a:p>
            <a:pPr algn="ctr">
              <a:spcAft>
                <a:spcPts val="3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Bar charts</a:t>
            </a:r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Line charts</a:t>
            </a:r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Pie charts</a:t>
            </a:r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Histograms</a:t>
            </a:r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Box plots</a:t>
            </a:r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Comparison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64008" rIns="109728" bIns="73152" anchor="t">
            <a:spAutoFit/>
          </a:bodyPr>
          <a:lstStyle/>
          <a:p>
            <a:pPr algn="r">
              <a:spcAft>
                <a:spcPts val="300"/>
              </a:spcAft>
              <a:defRPr sz="800">
                <a:solidFill>
                  <a:srgbClr val="60697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48000" y="263242"/>
            <a:ext cx="37033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3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SCREENS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300"/>
              </a:spcAft>
              <a:defRPr sz="800">
                <a:solidFill>
                  <a:srgbClr val="606974"/>
                </a:solidFill>
              </a:defRPr>
            </a:pPr>
            <a:r>
              <a:t>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E0BC95-2392-1EFE-8A51-344CAB3E4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4184"/>
            <a:ext cx="9601200" cy="58138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923F0-4BE0-A23D-475B-8BFB61B76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7C4EF91-5AD2-AE0A-85E5-05F5B58B1A0A}"/>
              </a:ext>
            </a:extLst>
          </p:cNvPr>
          <p:cNvSpPr/>
          <p:nvPr/>
        </p:nvSpPr>
        <p:spPr>
          <a:xfrm>
            <a:off x="3048000" y="263242"/>
            <a:ext cx="37033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3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OUTPUTS  SCREENS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680503-0E1F-C05D-FE1C-4E644628B177}"/>
              </a:ext>
            </a:extLst>
          </p:cNvPr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300"/>
              </a:spcAft>
              <a:defRPr sz="800">
                <a:solidFill>
                  <a:srgbClr val="606974"/>
                </a:solidFill>
              </a:defRPr>
            </a:pPr>
            <a:r>
              <a:rPr lang="en-IN"/>
              <a:t>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26DC99-B1EA-3088-26BF-6A88460E3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6" y="990600"/>
            <a:ext cx="9730154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704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EB4AF-4309-E9D2-ED3B-B3B980EC7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6A9BDD6-F063-06FE-B9CD-0A1CC88D58FA}"/>
              </a:ext>
            </a:extLst>
          </p:cNvPr>
          <p:cNvSpPr/>
          <p:nvPr/>
        </p:nvSpPr>
        <p:spPr>
          <a:xfrm>
            <a:off x="3048000" y="263242"/>
            <a:ext cx="37033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3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OUTPUTS  SCREENS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80F04-3E5F-C9FC-A118-4264BAF707DD}"/>
              </a:ext>
            </a:extLst>
          </p:cNvPr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300"/>
              </a:spcAft>
              <a:defRPr sz="800">
                <a:solidFill>
                  <a:srgbClr val="606974"/>
                </a:solidFill>
              </a:defRPr>
            </a:pPr>
            <a:r>
              <a:rPr lang="en-IN"/>
              <a:t>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C4B274-1DFD-5EAD-7B76-0459DD3A8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760568"/>
            <a:ext cx="9448800" cy="425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48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67ACC245-70D9-3E8C-5FB8-754CFCF29BA7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6520D471-D4E5-A862-75B1-D9BCC13CCE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AD22DAB3-C37B-1766-28C4-6EB13F7079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DC96198-DF83-D7E8-5187-D35038090D7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BAA191BE-B616-456E-A32A-06C5D11989B1}"/>
                </a:ext>
              </a:extLst>
            </p:cNvPr>
            <p:cNvSpPr/>
            <p:nvPr/>
          </p:nvSpPr>
          <p:spPr>
            <a:xfrm>
              <a:off x="2828925" y="282892"/>
              <a:ext cx="4534295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/>
                <a:t>                     </a:t>
              </a:r>
              <a:endParaRPr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477248" y="393846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Project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992916"/>
            <a:ext cx="6209552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Dataset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&amp; Explore Dataset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&amp; Product Analysis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&amp; Trend Analysis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Insights</a:t>
            </a:r>
            <a:endParaRPr sz="24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52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48000" y="304800"/>
            <a:ext cx="37033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8534400" cy="33332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Mobile Sales Data Analysis System provides a structured approach to understanding mobile sales records using Python.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project combines data loading, cleaning, preprocessing, exploratory analysis and visualization.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focuses on patterns across brands, products, regions, prices and mobile specifications.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final analysis will transform raw records into clear and interpretable sales insights.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400"/>
              </a:spcAft>
              <a:defRPr sz="800">
                <a:solidFill>
                  <a:srgbClr val="60697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3810000" y="1295995"/>
            <a:ext cx="13182600" cy="637097"/>
          </a:xfrm>
          <a:prstGeom prst="rect">
            <a:avLst/>
          </a:prstGeom>
          <a:noFill/>
        </p:spPr>
        <p:txBody>
          <a:bodyPr wrap="square" lIns="109728" rIns="109728" bIns="36576" anchor="t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E67E22"/>
                </a:solidFill>
              </a:defRPr>
            </a:pPr>
            <a:r>
              <a:rPr lang="en-IN" sz="3600" dirty="0"/>
              <a:t>                                         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2142273"/>
            <a:ext cx="10424160" cy="298543"/>
          </a:xfrm>
          <a:prstGeom prst="rect">
            <a:avLst/>
          </a:prstGeom>
          <a:noFill/>
        </p:spPr>
        <p:txBody>
          <a:bodyPr wrap="square" lIns="109728" rIns="109728" bIns="36576" anchor="t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F375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5265" y="2663840"/>
            <a:ext cx="3855349" cy="86868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bIns="36576" rtlCol="0" anchor="t"/>
          <a:lstStyle/>
          <a:p>
            <a:pPr algn="ctr">
              <a:spcAft>
                <a:spcPts val="200"/>
              </a:spcAft>
              <a:defRPr sz="1400" b="1">
                <a:solidFill>
                  <a:srgbClr val="1F3759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A. Yugandhar</a:t>
            </a:r>
          </a:p>
          <a:p>
            <a:pPr algn="ctr">
              <a:spcAft>
                <a:spcPts val="200"/>
              </a:spcAft>
              <a:defRPr sz="1200">
                <a:solidFill>
                  <a:srgbClr val="606974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25B11AI026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12355" y="2653061"/>
            <a:ext cx="3505200" cy="86868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bIns="36576" rtlCol="0" anchor="t"/>
          <a:lstStyle/>
          <a:p>
            <a:pPr algn="ctr">
              <a:spcAft>
                <a:spcPts val="200"/>
              </a:spcAft>
              <a:defRPr sz="1400" b="1">
                <a:solidFill>
                  <a:srgbClr val="1F3759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A. Lokesh</a:t>
            </a:r>
          </a:p>
          <a:p>
            <a:pPr algn="ctr">
              <a:spcAft>
                <a:spcPts val="200"/>
              </a:spcAft>
              <a:defRPr sz="1200">
                <a:solidFill>
                  <a:srgbClr val="606974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25B11AI074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6800" y="3858768"/>
            <a:ext cx="3855348" cy="86868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bIns="36576" rtlCol="0" anchor="t"/>
          <a:lstStyle/>
          <a:p>
            <a:pPr algn="ctr">
              <a:spcAft>
                <a:spcPts val="200"/>
              </a:spcAft>
              <a:defRPr sz="1400" b="1">
                <a:solidFill>
                  <a:srgbClr val="1F3759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K. S. Sai Sashank</a:t>
            </a:r>
          </a:p>
          <a:p>
            <a:pPr algn="ctr">
              <a:spcAft>
                <a:spcPts val="200"/>
              </a:spcAft>
              <a:defRPr sz="1200">
                <a:solidFill>
                  <a:srgbClr val="606974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25B11AI587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34657" y="3858768"/>
            <a:ext cx="3482898" cy="86868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bIns="36576" rtlCol="0" anchor="t"/>
          <a:lstStyle/>
          <a:p>
            <a:pPr algn="ctr">
              <a:spcAft>
                <a:spcPts val="200"/>
              </a:spcAft>
              <a:defRPr sz="1400" b="1">
                <a:solidFill>
                  <a:srgbClr val="1F3759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D. Sai Praveen Kumar</a:t>
            </a:r>
          </a:p>
          <a:p>
            <a:pPr algn="ctr">
              <a:spcAft>
                <a:spcPts val="200"/>
              </a:spcAft>
              <a:defRPr sz="1200">
                <a:solidFill>
                  <a:srgbClr val="606974"/>
                </a:solidFill>
              </a:defRPr>
            </a:pPr>
            <a:r>
              <a:rPr dirty="0">
                <a:latin typeface="Times New Roman" panose="02020603050405020304" pitchFamily="18" charset="0"/>
              </a:rPr>
              <a:t>25B21AI022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332720" cy="411480"/>
          </a:xfrm>
          <a:prstGeom prst="rect">
            <a:avLst/>
          </a:prstGeom>
          <a:noFill/>
        </p:spPr>
        <p:txBody>
          <a:bodyPr wrap="square" lIns="109728" rIns="109728" bIns="36576" anchor="t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F3759"/>
                </a:solidFill>
              </a:defRPr>
            </a:pPr>
            <a:r>
              <a:rPr dirty="0"/>
              <a:t>Department of Artificial Intelligence &amp;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rIns="109728" bIns="36576" anchor="t">
            <a:spAutoFit/>
          </a:bodyPr>
          <a:lstStyle/>
          <a:p>
            <a:pPr algn="r">
              <a:spcAft>
                <a:spcPts val="200"/>
              </a:spcAft>
              <a:defRPr sz="800">
                <a:solidFill>
                  <a:srgbClr val="60697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1012</Words>
  <Application>Microsoft Office PowerPoint</Application>
  <PresentationFormat>Custom</PresentationFormat>
  <Paragraphs>277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Georgia</vt:lpstr>
      <vt:lpstr>Palatino Linotype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alayugandhar@gmail.com</cp:lastModifiedBy>
  <cp:revision>52</cp:revision>
  <cp:lastPrinted>2025-10-14T18:21:00Z</cp:lastPrinted>
  <dcterms:created xsi:type="dcterms:W3CDTF">2025-10-10T08:28:00Z</dcterms:created>
  <dcterms:modified xsi:type="dcterms:W3CDTF">2026-09-30T06:05:42Z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2025-09-12T11:00:00Z</vt:filetime>
  </property>
  <property fmtid="{D5CDD505-2E9C-101B-9397-08002B2CF9AE}" pid="3" name="LastSaved">
    <vt:filetime>2025-10-10T11:00:00Z</vt:filetime>
  </property>
  <property fmtid="{D5CDD505-2E9C-101B-9397-08002B2CF9AE}" pid="4" name="ICV">
    <vt:lpwstr>FB195C4A810542B0ADE0180EEEBAEA77_12</vt:lpwstr>
  </property>
  <property fmtid="{D5CDD505-2E9C-101B-9397-08002B2CF9AE}" pid="5" name="KSOProductBuildVer">
    <vt:lpwstr>1033-12.1.0.28032</vt:lpwstr>
  </property>
</Properties>
</file>